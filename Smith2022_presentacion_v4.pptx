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[0:00–0:20]</a:t>
            </a:r>
          </a:p>
          <a:p>
            <a:r>
              <a:t>Buenas tardes. Voy a presentar Emerging infrastructures, de Robert Smith, publicado en BioSocieties en 2022. Cuenta cómo se fundó el primer hospital oncológico de la India, el Tata Memorial de Bombay, y cómo ahí se validó la radioterapia. Lo elegí porque narra, en clave histórica, un problema que vivo a diario.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[0:20–1:15]</a:t>
            </a:r>
          </a:p>
          <a:p>
            <a:r>
              <a:t>Primero, desde dónde se escribe. Smith es antropólogo, del Graduate Institute de Ginebra, y este artículo nace de su tesis de grado. Escribe para BioSocieties, en diálogo con la antropología del cáncer en el sur global: Livingston, Banerjee, Sivaramakrishnan. Es decir, un investigador joven del norte, mirando un caso del sur, desde el archivo.</a:t>
            </a:r>
          </a:p>
          <a:p>
            <a:r>
              <a:t>El caso es el Tata Memorial Hospital: concebido en 1932, abierto en 1941, y seguido hasta 1963. El método es archivo más entrevistas: los archivos Tata, el Instituto Tata de Investigación Fundamental, la British Library y Yale, y conversaciones con descendientes de los protagonistas.</a:t>
            </a:r>
          </a:p>
          <a:p>
            <a:r>
              <a:t>[Cortable] Abajo ven a Homi Bhabha presidiendo en Ginebra, en 1955, la conferencia Átomos para la Paz: el átomo y el cáncer se cruzan en la misma red.</a:t>
            </a:r>
          </a:p>
          <a:p>
            <a:r>
              <a:t>Esa posición importa: Smith ve cómo las élites negociaron una infraestructura. No ve el día a día del hospital.</a:t>
            </a:r>
          </a:p>
          <a:p>
            <a:r>
              <a:t>Créditos fotos: Tata Memorial Hospital (Ad baheti, 2022, CC0) · Homi J. Bhabha presidiendo la Conferencia Átomos para la Paz, Ginebra 1955 (IAEA Imagebank, CC BY-SA 2.0). Vía Wikimedia Commons.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[1:15–2:40]</a:t>
            </a:r>
          </a:p>
          <a:p>
            <a:r>
              <a:t>El argumento. El sentido común dice dos cosas: que una terapia se valida por su evidencia, y que el sur global atiende mal el cáncer por falta de recursos. Smith desmonta las dos.</a:t>
            </a:r>
          </a:p>
          <a:p>
            <a:r>
              <a:t>En los años treinta, el radio era visto como charlatanería en buena parte del mundo. El consultor que contrató la familia Tata, John Spies, admitió que el radio no haría maravillas. Aun así invirtieron. ¿Por qué? Dos conceptos.</a:t>
            </a:r>
          </a:p>
          <a:p>
            <a:r>
              <a:t>Primero, filantrocapitalismo: los Tata, familia empresarial parsi, usaban la filantropía para ganar aceptación social para sus negocios y, en este caso, para entrar a la economía nuclear emergente. Segundo, nacionalismo científico poscolonial: el nuevo Estado indio, con Homi Bhabha, sobrino de los Tata y cercano a Nehru, necesitaba el átomo como proyecto nacional. El hospital tenía la primera planta de radón de la India. Era un activo nuclear antes que sanitario.</a:t>
            </a:r>
          </a:p>
          <a:p>
            <a:r>
              <a:t>Miren la cifra: entre 1941 y 1948, 98 pacientes con cáncer de esófago; ninguno vivió más de dos años. Y los radioterapeutas del hospital llamaban a la radioterapia «altamente eficaz» y «ampliamente decepcionante».</a:t>
            </a:r>
          </a:p>
          <a:p>
            <a:r>
              <a:t>El hallazgo: la radioterapia se validó porque servía al proyecto nuclear, no por sus resultados. Lo público, lo filantrópico y lo privado eran, cito, «extremadamente porosos y mutuamente dependientes». Y los pacientes, que llegaban tarde, quedaron fuera del triángulo.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[2:40–4:00]</a:t>
            </a:r>
          </a:p>
          <a:p>
            <a:r>
              <a:t>Ahora, la conexión con mi práctica. En 1957 los Tata donaron el hospital al Ministerio de Salud; en 1962 Bhabha lo pasó al Departamento de Energía Atómica, y en 1963 se creó el Centro de Medicina de la Radiación, que le producía los radioisótopos. Estado, isótopos, hospital.</a:t>
            </a:r>
          </a:p>
          <a:p>
            <a:r>
              <a:t>[Cortable] Ya en 1947, el jefe de radiología, el doctor Mody, decía que la esperanza estaba en la «promesa» de los radioisótopos: ahí nace mi disciplina.</a:t>
            </a:r>
          </a:p>
          <a:p>
            <a:r>
              <a:t>Yo trabajo en medicina nuclear en FALP, una fundación oncológica privada, y dependo de los radioisótopos que produce el Estado en la CCHEN, en un reactor de 1974. La misma cadena. Y este año formé parte de la delegación de FALP que visitó la CCHEN. No leo esto desde afuera: soy uno de los actores del triángulo.</a:t>
            </a:r>
          </a:p>
          <a:p>
            <a:r>
              <a:t>La fricción es doble. De contenido: en la India, el Estado construía su proyecto nuclear y el cáncer se colgó de él; en Chile, el Estado declara una alerta oncológica mientras desfinancia la producción pública de radiofármacos. La misma articulación entre cáncer y átomo, con el signo cambiado. Y de posición: Smith mira desde el archivo y las élites; yo miro desde la entrega diaria, el trabajo técnico, la producción que no llega.</a:t>
            </a:r>
          </a:p>
          <a:p>
            <a:r>
              <a:t>Créditos fotos: Nehru con V. K. Iya (División de Isótopos) en el Atomic Energy Establishment Trombay (hoy BARC), antes de 1964 (Reetesh Chaurasia, CC BY-SA 4.0) · Centro de Estudios Nucleares La Reina, CCHEN (Fepe96, 2016, CC BY-SA 4.0). Vía Wikimedia Commons.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[4:00–4:40]</a:t>
            </a:r>
          </a:p>
          <a:p>
            <a:r>
              <a:t>El lente que me deja: la validez de una terapia es un logro sociotécnico, no un dato. Esta es la nota de FALP sobre nuestra visita a la CCHEN. Para Smith sería un documento de archivo: una alianza en formación, como la carta de Naidu a Bhabha en 1945. Para mí es el presente.</a:t>
            </a:r>
          </a:p>
          <a:p>
            <a:r>
              <a:t>[Cortable] Y fíjense en los botones de arriba: «Solicita tu hora», «Dona aquí». La filantropía y el mercado en la misma página.</a:t>
            </a:r>
          </a:p>
          <a:p>
            <a:r>
              <a:t>Y la pregunta que me llevo: si allá la medicina nuclear se validó sobre una infraestructura emergente, ¿qué alianzas rearman hoy la nuestra, y quién queda fuera de la conversación? Gracias.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 Id="rId90" Type="http://schemas.openxmlformats.org/officeDocument/2006/relationships/image" Target="../media/foto-tmh.jpg"/><Relationship Id="rId91" Type="http://schemas.openxmlformats.org/officeDocument/2006/relationships/image" Target="../media/foto-bhabha.jpg"/></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cchen-proyeccion.jp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 Id="rId90" Type="http://schemas.openxmlformats.org/officeDocument/2006/relationships/image" Target="../media/foto-barc.jpg"/><Relationship Id="rId91" Type="http://schemas.openxmlformats.org/officeDocument/2006/relationships/image" Target="../media/foto-cen.jpg"/></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nota-falp.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1 / 5</a:t>
            </a:r>
            <a:endParaRPr lang="en-US" sz="1100" dirty="0"/>
          </a:p>
        </p:txBody>
      </p:sp>
      <p:sp>
        <p:nvSpPr>
          <p:cNvPr id="4" name="Text 2"/>
          <p:cNvSpPr txBox="1"/>
          <p:nvPr/>
        </p:nvSpPr>
        <p:spPr>
          <a:xfrm>
            <a:off x="457200" y="1737360"/>
            <a:ext cx="8229600" cy="1920240"/>
          </a:xfrm>
          <a:prstGeom prst="rect">
            <a:avLst/>
          </a:prstGeom>
          <a:noFill/>
          <a:ln/>
          <a:effectLst>
            <a:outerShdw sx="100000" sy="100000" kx="0" ky="0" algn="bl" rotWithShape="0" blurRad="25400" dist="25400" dir="2700000">
              <a:srgbClr val="000000">
                <a:alpha val="90000"/>
              </a:srgbClr>
            </a:outerShdw>
          </a:effectLst>
        </p:spPr>
        <p:txBody>
          <a:bodyPr wrap="square" rtlCol="0" anchor="ctr"/>
          <a:lstStyle/>
          <a:p>
            <a:pPr algn="ctr" indent="0" marL="0">
              <a:buNone/>
            </a:pPr>
            <a:r>
              <a:rPr lang="en-US" sz="5400" b="1" i="1" dirty="0">
                <a:solidFill>
                  <a:srgbClr val="FFA500"/>
                </a:solidFill>
                <a:latin typeface="Times New Roman" pitchFamily="34" charset="0"/>
                <a:ea typeface="Times New Roman" pitchFamily="34" charset="-122"/>
                <a:cs typeface="Times New Roman" pitchFamily="34" charset="-120"/>
              </a:rPr>
              <a:t>Emerging</a:t>
            </a:r>
            <a:endParaRPr lang="en-US" sz="5400" dirty="0"/>
          </a:p>
          <a:p>
            <a:pPr algn="ctr" indent="0" marL="0">
              <a:buNone/>
            </a:pPr>
            <a:r>
              <a:rPr lang="en-US" sz="5400" b="1" i="1" dirty="0">
                <a:solidFill>
                  <a:srgbClr val="FFA500"/>
                </a:solidFill>
                <a:latin typeface="Times New Roman" pitchFamily="34" charset="0"/>
                <a:ea typeface="Times New Roman" pitchFamily="34" charset="-122"/>
                <a:cs typeface="Times New Roman" pitchFamily="34" charset="-120"/>
              </a:rPr>
              <a:t>infrastructures</a:t>
            </a:r>
            <a:endParaRPr lang="en-US" sz="5400" dirty="0"/>
          </a:p>
        </p:txBody>
      </p:sp>
      <p:sp>
        <p:nvSpPr>
          <p:cNvPr id="5" name="Text 3"/>
          <p:cNvSpPr txBox="1"/>
          <p:nvPr/>
        </p:nvSpPr>
        <p:spPr>
          <a:xfrm>
            <a:off x="457200" y="3749040"/>
            <a:ext cx="8229600" cy="457200"/>
          </a:xfrm>
          <a:prstGeom prst="rect">
            <a:avLst/>
          </a:prstGeom>
          <a:noFill/>
          <a:ln/>
          <a:effectLst>
            <a:outerShdw sx="100000" sy="100000" kx="0" ky="0" algn="bl" rotWithShape="0" blurRad="25400" dist="25400" dir="2700000">
              <a:srgbClr val="000000">
                <a:alpha val="90000"/>
              </a:srgbClr>
            </a:outerShdw>
          </a:effectLst>
        </p:spPr>
        <p:txBody>
          <a:bodyPr wrap="square" rtlCol="0" anchor="ctr"/>
          <a:lstStyle/>
          <a:p>
            <a:pPr algn="ctr" indent="0" marL="0">
              <a:buNone/>
            </a:pPr>
            <a:r>
              <a:rPr lang="en-US" sz="2200" dirty="0">
                <a:solidFill>
                  <a:srgbClr val="FFFFFF"/>
                </a:solidFill>
                <a:latin typeface="Times New Roman" pitchFamily="34" charset="0"/>
                <a:ea typeface="Times New Roman" pitchFamily="34" charset="-122"/>
                <a:cs typeface="Times New Roman" pitchFamily="34" charset="-120"/>
              </a:rPr>
              <a:t>Robert D. Smith (2022) · </a:t>
            </a:r>
            <a:pPr algn="ctr" indent="0" marL="0">
              <a:buNone/>
            </a:pPr>
            <a:r>
              <a:rPr lang="en-US" sz="2200" i="1" dirty="0">
                <a:solidFill>
                  <a:srgbClr val="FFFFFF"/>
                </a:solidFill>
                <a:latin typeface="Times New Roman" pitchFamily="34" charset="0"/>
                <a:ea typeface="Times New Roman" pitchFamily="34" charset="-122"/>
                <a:cs typeface="Times New Roman" pitchFamily="34" charset="-120"/>
              </a:rPr>
              <a:t>BioSocieties</a:t>
            </a:r>
            <a:endParaRPr lang="en-US" sz="2200" dirty="0"/>
          </a:p>
        </p:txBody>
      </p:sp>
      <p:sp>
        <p:nvSpPr>
          <p:cNvPr id="6" name="Text 4"/>
          <p:cNvSpPr txBox="1"/>
          <p:nvPr/>
        </p:nvSpPr>
        <p:spPr>
          <a:xfrm>
            <a:off x="457200" y="4297680"/>
            <a:ext cx="8229600" cy="411480"/>
          </a:xfrm>
          <a:prstGeom prst="rect">
            <a:avLst/>
          </a:prstGeom>
          <a:noFill/>
          <a:ln/>
          <a:effectLst>
            <a:outerShdw sx="100000" sy="100000" kx="0" ky="0" algn="bl" rotWithShape="0" blurRad="25400" dist="25400" dir="2700000">
              <a:srgbClr val="000000">
                <a:alpha val="90000"/>
              </a:srgbClr>
            </a:outerShdw>
          </a:effectLst>
        </p:spPr>
        <p:txBody>
          <a:bodyPr wrap="square" rtlCol="0" anchor="ctr"/>
          <a:lstStyle/>
          <a:p>
            <a:pPr algn="ctr" indent="0" marL="0">
              <a:buNone/>
            </a:pPr>
            <a:r>
              <a:rPr lang="en-US" sz="1600" dirty="0">
                <a:solidFill>
                  <a:srgbClr val="FFDD33"/>
                </a:solidFill>
                <a:latin typeface="Times New Roman" pitchFamily="34" charset="0"/>
                <a:ea typeface="Times New Roman" pitchFamily="34" charset="-122"/>
                <a:cs typeface="Times New Roman" pitchFamily="34" charset="-120"/>
              </a:rPr>
              <a:t>Luciano Tejada · Tecnociencia y Sociedad · 25/09/2026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2 / 5</a:t>
            </a:r>
            <a:endParaRPr lang="en-US" sz="1100" dirty="0"/>
          </a:p>
        </p:txBody>
      </p:sp>
      <p:sp>
        <p:nvSpPr>
          <p:cNvPr id="4" name="Text 2"/>
          <p:cNvSpPr txBox="1"/>
          <p:nvPr/>
        </p:nvSpPr>
        <p:spPr>
          <a:xfrm>
            <a:off x="457200" y="228600"/>
            <a:ext cx="8229600" cy="68580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¿Desde dónde se escribe?</a:t>
            </a:r>
            <a:endParaRPr lang="en-US" sz="3600" dirty="0"/>
          </a:p>
        </p:txBody>
      </p:sp>
      <p:sp>
        <p:nvSpPr>
          <p:cNvPr id="5" name="Text 3"/>
          <p:cNvSpPr txBox="1"/>
          <p:nvPr/>
        </p:nvSpPr>
        <p:spPr>
          <a:xfrm>
            <a:off x="457200" y="1051560"/>
            <a:ext cx="3337560" cy="64008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Ginebra </a:t>
            </a:r>
            <a:pPr indent="0" marL="0">
              <a:buNone/>
            </a:pPr>
            <a:r>
              <a:rPr lang="en-US" sz="2800" b="1" dirty="0">
                <a:solidFill>
                  <a:srgbClr val="FFDD33"/>
                </a:solidFill>
                <a:latin typeface="Times New Roman" pitchFamily="34" charset="0"/>
                <a:ea typeface="Times New Roman" pitchFamily="34" charset="-122"/>
                <a:cs typeface="Times New Roman" pitchFamily="34" charset="-120"/>
              </a:rPr>
              <a:t>→ </a:t>
            </a:r>
            <a:pPr indent="0" marL="0">
              <a:buNone/>
            </a:pPr>
            <a:r>
              <a:rPr lang="en-US" sz="2800" b="1" dirty="0">
                <a:solidFill>
                  <a:srgbClr val="FFFFFF"/>
                </a:solidFill>
                <a:latin typeface="Times New Roman" pitchFamily="34" charset="0"/>
                <a:ea typeface="Times New Roman" pitchFamily="34" charset="-122"/>
                <a:cs typeface="Times New Roman" pitchFamily="34" charset="-120"/>
              </a:rPr>
              <a:t>Bombay</a:t>
            </a:r>
            <a:endParaRPr lang="en-US" sz="2800" dirty="0"/>
          </a:p>
        </p:txBody>
      </p:sp>
      <p:sp>
        <p:nvSpPr>
          <p:cNvPr id="6" name="Text 4"/>
          <p:cNvSpPr txBox="1"/>
          <p:nvPr/>
        </p:nvSpPr>
        <p:spPr>
          <a:xfrm>
            <a:off x="457200" y="1828800"/>
            <a:ext cx="3337560" cy="1005840"/>
          </a:xfrm>
          <a:prstGeom prst="rect">
            <a:avLst/>
          </a:prstGeom>
          <a:noFill/>
          <a:ln/>
        </p:spPr>
        <p:txBody>
          <a:bodyPr wrap="square" lIns="0" tIns="0" rIns="0" bIns="0" rtlCol="0" anchor="t"/>
          <a:lstStyle/>
          <a:p>
            <a:pPr indent="0" marL="0">
              <a:buNone/>
            </a:pPr>
            <a:r>
              <a:rPr lang="en-US" sz="1600" b="1" dirty="0">
                <a:solidFill>
                  <a:srgbClr val="66FFFF"/>
                </a:solidFill>
                <a:latin typeface="Times New Roman" pitchFamily="34" charset="0"/>
                <a:ea typeface="Times New Roman" pitchFamily="34" charset="-122"/>
                <a:cs typeface="Times New Roman" pitchFamily="34" charset="-120"/>
              </a:rPr>
              <a:t>Revista  </a:t>
            </a:r>
            <a:pPr indent="0" marL="0">
              <a:buNone/>
            </a:pPr>
            <a:r>
              <a:rPr lang="en-US" sz="1600" dirty="0">
                <a:solidFill>
                  <a:srgbClr val="FFFFFF"/>
                </a:solidFill>
                <a:latin typeface="Times New Roman" pitchFamily="34" charset="0"/>
                <a:ea typeface="Times New Roman" pitchFamily="34" charset="-122"/>
                <a:cs typeface="Times New Roman" pitchFamily="34" charset="-120"/>
              </a:rPr>
              <a:t>BioSocieties — antropología e historia del cáncer en el sur global</a:t>
            </a:r>
            <a:endParaRPr lang="en-US" sz="1600" dirty="0"/>
          </a:p>
        </p:txBody>
      </p:sp>
      <p:sp>
        <p:nvSpPr>
          <p:cNvPr id="7" name="Text 5"/>
          <p:cNvSpPr txBox="1"/>
          <p:nvPr/>
        </p:nvSpPr>
        <p:spPr>
          <a:xfrm>
            <a:off x="457200" y="2926080"/>
            <a:ext cx="3337560" cy="1005840"/>
          </a:xfrm>
          <a:prstGeom prst="rect">
            <a:avLst/>
          </a:prstGeom>
          <a:noFill/>
          <a:ln/>
        </p:spPr>
        <p:txBody>
          <a:bodyPr wrap="square" lIns="0" tIns="0" rIns="0" bIns="0" rtlCol="0" anchor="t"/>
          <a:lstStyle/>
          <a:p>
            <a:pPr indent="0" marL="0">
              <a:buNone/>
            </a:pPr>
            <a:r>
              <a:rPr lang="en-US" sz="1600" b="1" dirty="0">
                <a:solidFill>
                  <a:srgbClr val="66FFFF"/>
                </a:solidFill>
                <a:latin typeface="Times New Roman" pitchFamily="34" charset="0"/>
                <a:ea typeface="Times New Roman" pitchFamily="34" charset="-122"/>
                <a:cs typeface="Times New Roman" pitchFamily="34" charset="-120"/>
              </a:rPr>
              <a:t>Autor  </a:t>
            </a:r>
            <a:pPr indent="0" marL="0">
              <a:buNone/>
            </a:pPr>
            <a:r>
              <a:rPr lang="en-US" sz="1600" dirty="0">
                <a:solidFill>
                  <a:srgbClr val="FFFFFF"/>
                </a:solidFill>
                <a:latin typeface="Times New Roman" pitchFamily="34" charset="0"/>
                <a:ea typeface="Times New Roman" pitchFamily="34" charset="-122"/>
                <a:cs typeface="Times New Roman" pitchFamily="34" charset="-120"/>
              </a:rPr>
              <a:t>Antropología y Sociología, Graduate Institute · tesis de grado</a:t>
            </a:r>
            <a:endParaRPr lang="en-US" sz="1600" dirty="0"/>
          </a:p>
        </p:txBody>
      </p:sp>
      <p:sp>
        <p:nvSpPr>
          <p:cNvPr id="8" name="Text 6"/>
          <p:cNvSpPr txBox="1"/>
          <p:nvPr/>
        </p:nvSpPr>
        <p:spPr>
          <a:xfrm>
            <a:off x="457200" y="4023360"/>
            <a:ext cx="3337560" cy="1005840"/>
          </a:xfrm>
          <a:prstGeom prst="rect">
            <a:avLst/>
          </a:prstGeom>
          <a:noFill/>
          <a:ln/>
        </p:spPr>
        <p:txBody>
          <a:bodyPr wrap="square" lIns="0" tIns="0" rIns="0" bIns="0" rtlCol="0" anchor="t"/>
          <a:lstStyle/>
          <a:p>
            <a:pPr indent="0" marL="0">
              <a:buNone/>
            </a:pPr>
            <a:r>
              <a:rPr lang="en-US" sz="1600" b="1" dirty="0">
                <a:solidFill>
                  <a:srgbClr val="66FFFF"/>
                </a:solidFill>
                <a:latin typeface="Times New Roman" pitchFamily="34" charset="0"/>
                <a:ea typeface="Times New Roman" pitchFamily="34" charset="-122"/>
                <a:cs typeface="Times New Roman" pitchFamily="34" charset="-120"/>
              </a:rPr>
              <a:t>Caso  </a:t>
            </a:r>
            <a:pPr indent="0" marL="0">
              <a:buNone/>
            </a:pPr>
            <a:r>
              <a:rPr lang="en-US" sz="1600" dirty="0">
                <a:solidFill>
                  <a:srgbClr val="FFFFFF"/>
                </a:solidFill>
                <a:latin typeface="Times New Roman" pitchFamily="34" charset="0"/>
                <a:ea typeface="Times New Roman" pitchFamily="34" charset="-122"/>
                <a:cs typeface="Times New Roman" pitchFamily="34" charset="-120"/>
              </a:rPr>
              <a:t>Tata Memorial Hospital, 1932–1963</a:t>
            </a:r>
            <a:endParaRPr lang="en-US" sz="1600" dirty="0"/>
          </a:p>
        </p:txBody>
      </p:sp>
      <p:sp>
        <p:nvSpPr>
          <p:cNvPr id="9" name="Text 7"/>
          <p:cNvSpPr txBox="1"/>
          <p:nvPr/>
        </p:nvSpPr>
        <p:spPr>
          <a:xfrm>
            <a:off x="457200" y="5120640"/>
            <a:ext cx="3337560" cy="1005840"/>
          </a:xfrm>
          <a:prstGeom prst="rect">
            <a:avLst/>
          </a:prstGeom>
          <a:noFill/>
          <a:ln/>
        </p:spPr>
        <p:txBody>
          <a:bodyPr wrap="square" lIns="0" tIns="0" rIns="0" bIns="0" rtlCol="0" anchor="t"/>
          <a:lstStyle/>
          <a:p>
            <a:pPr indent="0" marL="0">
              <a:buNone/>
            </a:pPr>
            <a:r>
              <a:rPr lang="en-US" sz="1600" b="1" dirty="0">
                <a:solidFill>
                  <a:srgbClr val="66FFFF"/>
                </a:solidFill>
                <a:latin typeface="Times New Roman" pitchFamily="34" charset="0"/>
                <a:ea typeface="Times New Roman" pitchFamily="34" charset="-122"/>
                <a:cs typeface="Times New Roman" pitchFamily="34" charset="-120"/>
              </a:rPr>
              <a:t>Método  </a:t>
            </a:r>
            <a:pPr indent="0" marL="0">
              <a:buNone/>
            </a:pPr>
            <a:r>
              <a:rPr lang="en-US" sz="1600" dirty="0">
                <a:solidFill>
                  <a:srgbClr val="FFFFFF"/>
                </a:solidFill>
                <a:latin typeface="Times New Roman" pitchFamily="34" charset="0"/>
                <a:ea typeface="Times New Roman" pitchFamily="34" charset="-122"/>
                <a:cs typeface="Times New Roman" pitchFamily="34" charset="-120"/>
              </a:rPr>
              <a:t>Archivo (Tata, TIFR, British Library) + entrevistas</a:t>
            </a:r>
            <a:endParaRPr lang="en-US" sz="1600" dirty="0"/>
          </a:p>
        </p:txBody>
      </p:sp>
      <p:pic>
        <p:nvPicPr>
          <p:cNvPr id="90" name="Foto TMH" descr="Tata Memorial Hospital, Parel, Bombay"/>
          <p:cNvPicPr>
            <a:picLocks noChangeAspect="1"/>
          </p:cNvPicPr>
          <p:nvPr/>
        </p:nvPicPr>
        <p:blipFill>
          <a:blip r:embed="rId90"/>
          <a:stretch>
            <a:fillRect/>
          </a:stretch>
        </p:blipFill>
        <p:spPr>
          <a:xfrm>
            <a:off x="3977640" y="1051560"/>
            <a:ext cx="4800600" cy="283464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sp>
        <p:nvSpPr>
          <p:cNvPr id="12" name="Text 10"/>
          <p:cNvSpPr txBox="1"/>
          <p:nvPr/>
        </p:nvSpPr>
        <p:spPr>
          <a:xfrm>
            <a:off x="3977640" y="3931920"/>
            <a:ext cx="480060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Bombay · Tata Memorial Hospital</a:t>
            </a:r>
            <a:endParaRPr lang="en-US" sz="1400" dirty="0"/>
          </a:p>
        </p:txBody>
      </p:sp>
      <p:pic>
        <p:nvPicPr>
          <p:cNvPr id="91" name="Foto Bhabha" descr="Homi J. Bhabha, Ginebra 1955"/>
          <p:cNvPicPr>
            <a:picLocks noChangeAspect="1"/>
          </p:cNvPicPr>
          <p:nvPr/>
        </p:nvPicPr>
        <p:blipFill>
          <a:blip r:embed="rId91"/>
          <a:stretch>
            <a:fillRect/>
          </a:stretch>
        </p:blipFill>
        <p:spPr>
          <a:xfrm>
            <a:off x="6309360" y="4343400"/>
            <a:ext cx="2468880" cy="196596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sp>
        <p:nvSpPr>
          <p:cNvPr id="92" name="Caption Bhabha"/>
          <p:cNvSpPr txBox="1"/>
          <p:nvPr/>
        </p:nvSpPr>
        <p:spPr>
          <a:xfrm>
            <a:off x="3977640" y="5669280"/>
            <a:ext cx="2194560" cy="640080"/>
          </a:xfrm>
          <a:prstGeom prst="rect">
            <a:avLst/>
          </a:prstGeom>
          <a:noFill/>
          <a:ln/>
        </p:spPr>
        <p:txBody>
          <a:bodyPr wrap="square" lIns="0" tIns="0" rIns="0" bIns="0" rtlCol="0" anchor="ctr"/>
          <a:lstStyle/>
          <a:p>
            <a:pPr algn="r" indent="0" marL="0">
              <a:buNone/>
            </a:pPr>
            <a:r>
              <a:rPr lang="en-US" sz="1400" dirty="0">
                <a:solidFill>
                  <a:srgbClr val="FFDD33"/>
                </a:solidFill>
                <a:latin typeface="Times New Roman" pitchFamily="34" charset="0"/>
                <a:ea typeface="Times New Roman" pitchFamily="34" charset="-122"/>
                <a:cs typeface="Times New Roman" pitchFamily="34" charset="-120"/>
              </a:rPr>
              <a:t>Homi Bhabha · Ginebra, 1955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3 / 5</a:t>
            </a:r>
            <a:endParaRPr lang="en-US" sz="1100" dirty="0"/>
          </a:p>
        </p:txBody>
      </p:sp>
      <p:sp>
        <p:nvSpPr>
          <p:cNvPr id="4" name="Text 2"/>
          <p:cNvSpPr txBox="1"/>
          <p:nvPr/>
        </p:nvSpPr>
        <p:spPr>
          <a:xfrm>
            <a:off x="457200" y="274320"/>
            <a:ext cx="8229600" cy="82296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El argumento</a:t>
            </a:r>
            <a:endParaRPr lang="en-US" sz="3600" dirty="0"/>
          </a:p>
        </p:txBody>
      </p:sp>
      <p:sp>
        <p:nvSpPr>
          <p:cNvPr id="5" name="Text 3"/>
          <p:cNvSpPr txBox="1"/>
          <p:nvPr/>
        </p:nvSpPr>
        <p:spPr>
          <a:xfrm>
            <a:off x="365760" y="1234440"/>
            <a:ext cx="3840480" cy="100584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algn="ctr" indent="0" marL="0">
              <a:buNone/>
            </a:pPr>
            <a:r>
              <a:rPr lang="en-US" sz="6000" b="1" dirty="0">
                <a:solidFill>
                  <a:srgbClr val="FFA500"/>
                </a:solidFill>
                <a:latin typeface="Times New Roman" pitchFamily="34" charset="0"/>
                <a:ea typeface="Times New Roman" pitchFamily="34" charset="-122"/>
                <a:cs typeface="Times New Roman" pitchFamily="34" charset="-120"/>
              </a:rPr>
              <a:t>98 → 0</a:t>
            </a:r>
            <a:endParaRPr lang="en-US" sz="6000" dirty="0"/>
          </a:p>
        </p:txBody>
      </p:sp>
      <p:sp>
        <p:nvSpPr>
          <p:cNvPr id="6" name="Text 4"/>
          <p:cNvSpPr txBox="1"/>
          <p:nvPr/>
        </p:nvSpPr>
        <p:spPr>
          <a:xfrm>
            <a:off x="365760" y="2240280"/>
            <a:ext cx="3840480" cy="685800"/>
          </a:xfrm>
          <a:prstGeom prst="rect">
            <a:avLst/>
          </a:prstGeom>
          <a:noFill/>
          <a:ln/>
        </p:spPr>
        <p:txBody>
          <a:bodyPr wrap="square" lIns="0" tIns="0" rIns="0" bIns="0" rtlCol="0" anchor="ctr"/>
          <a:lstStyle/>
          <a:p>
            <a:pPr algn="ctr" indent="0" marL="0">
              <a:buNone/>
            </a:pPr>
            <a:r>
              <a:rPr lang="en-US" sz="1500" dirty="0">
                <a:solidFill>
                  <a:srgbClr val="FFFFFF"/>
                </a:solidFill>
                <a:latin typeface="Times New Roman" pitchFamily="34" charset="0"/>
                <a:ea typeface="Times New Roman" pitchFamily="34" charset="-122"/>
                <a:cs typeface="Times New Roman" pitchFamily="34" charset="-120"/>
              </a:rPr>
              <a:t>pacientes con cáncer de esófago</a:t>
            </a:r>
            <a:endParaRPr lang="en-US" sz="1500" dirty="0"/>
          </a:p>
          <a:p>
            <a:pPr algn="ctr" indent="0" marL="0">
              <a:buNone/>
            </a:pPr>
            <a:r>
              <a:rPr lang="en-US" sz="1500" dirty="0">
                <a:solidFill>
                  <a:srgbClr val="FFFFFF"/>
                </a:solidFill>
                <a:latin typeface="Times New Roman" pitchFamily="34" charset="0"/>
                <a:ea typeface="Times New Roman" pitchFamily="34" charset="-122"/>
                <a:cs typeface="Times New Roman" pitchFamily="34" charset="-120"/>
              </a:rPr>
              <a:t>ninguno vivió 2 años (1941–48)</a:t>
            </a:r>
            <a:endParaRPr lang="en-US" sz="1500" dirty="0"/>
          </a:p>
        </p:txBody>
      </p:sp>
      <p:sp>
        <p:nvSpPr>
          <p:cNvPr id="7" name="Text 5"/>
          <p:cNvSpPr txBox="1"/>
          <p:nvPr/>
        </p:nvSpPr>
        <p:spPr>
          <a:xfrm>
            <a:off x="365760" y="3017520"/>
            <a:ext cx="3840480" cy="822960"/>
          </a:xfrm>
          <a:prstGeom prst="rect">
            <a:avLst/>
          </a:prstGeom>
          <a:noFill/>
          <a:ln/>
        </p:spPr>
        <p:txBody>
          <a:bodyPr wrap="square" lIns="0" tIns="0" rIns="0" bIns="0" rtlCol="0" anchor="ctr"/>
          <a:lstStyle/>
          <a:p>
            <a:pPr algn="ctr" indent="0" marL="0">
              <a:buNone/>
            </a:pPr>
            <a:r>
              <a:rPr lang="en-US" sz="1600" b="1" dirty="0">
                <a:solidFill>
                  <a:srgbClr val="66FFFF"/>
                </a:solidFill>
                <a:latin typeface="Times New Roman" pitchFamily="34" charset="0"/>
                <a:ea typeface="Times New Roman" pitchFamily="34" charset="-122"/>
                <a:cs typeface="Times New Roman" pitchFamily="34" charset="-120"/>
              </a:rPr>
              <a:t>«altamente eficaz»</a:t>
            </a:r>
            <a:pPr algn="ctr" indent="0" marL="0">
              <a:buNone/>
            </a:pPr>
            <a:r>
              <a:rPr lang="en-US" sz="1600" dirty="0">
                <a:solidFill>
                  <a:srgbClr val="FFFFFF"/>
                </a:solidFill>
                <a:latin typeface="Times New Roman" pitchFamily="34" charset="0"/>
                <a:ea typeface="Times New Roman" pitchFamily="34" charset="-122"/>
                <a:cs typeface="Times New Roman" pitchFamily="34" charset="-120"/>
              </a:rPr>
              <a:t>  +  </a:t>
            </a:r>
            <a:pPr algn="ctr" indent="0" marL="0">
              <a:buNone/>
            </a:pPr>
            <a:r>
              <a:rPr lang="en-US" sz="1600" b="1" dirty="0">
                <a:solidFill>
                  <a:srgbClr val="FFDD33"/>
                </a:solidFill>
                <a:latin typeface="Times New Roman" pitchFamily="34" charset="0"/>
                <a:ea typeface="Times New Roman" pitchFamily="34" charset="-122"/>
                <a:cs typeface="Times New Roman" pitchFamily="34" charset="-120"/>
              </a:rPr>
              <a:t>«ampliamente decepcionante»</a:t>
            </a:r>
            <a:endParaRPr lang="en-US" sz="1600" dirty="0"/>
          </a:p>
        </p:txBody>
      </p:sp>
      <p:sp>
        <p:nvSpPr>
          <p:cNvPr id="8" name="Text 6"/>
          <p:cNvSpPr txBox="1"/>
          <p:nvPr/>
        </p:nvSpPr>
        <p:spPr>
          <a:xfrm>
            <a:off x="365760" y="3977640"/>
            <a:ext cx="3840480" cy="1371600"/>
          </a:xfrm>
          <a:prstGeom prst="rect">
            <a:avLst/>
          </a:prstGeom>
          <a:noFill/>
          <a:ln/>
        </p:spPr>
        <p:txBody>
          <a:bodyPr wrap="square" lIns="0" tIns="0" rIns="0" bIns="0" rtlCol="0" anchor="ctr"/>
          <a:lstStyle/>
          <a:p>
            <a:pPr indent="0" marL="0">
              <a:buNone/>
            </a:pPr>
            <a:r>
              <a:rPr lang="en-US" sz="1500" b="1" dirty="0">
                <a:solidFill>
                  <a:srgbClr val="66FFFF"/>
                </a:solidFill>
                <a:latin typeface="Times New Roman" pitchFamily="34" charset="0"/>
                <a:ea typeface="Times New Roman" pitchFamily="34" charset="-122"/>
                <a:cs typeface="Times New Roman" pitchFamily="34" charset="-120"/>
              </a:rPr>
              <a:t>Sentido común que desmonta: </a:t>
            </a:r>
            <a:pPr indent="0" marL="0">
              <a:buNone/>
            </a:pPr>
            <a:r>
              <a:rPr lang="en-US" sz="1500" dirty="0">
                <a:solidFill>
                  <a:srgbClr val="FFFFFF"/>
                </a:solidFill>
                <a:latin typeface="Times New Roman" pitchFamily="34" charset="0"/>
                <a:ea typeface="Times New Roman" pitchFamily="34" charset="-122"/>
                <a:cs typeface="Times New Roman" pitchFamily="34" charset="-120"/>
              </a:rPr>
              <a:t>una terapia se valida por su evidencia; el sur global atiende mal “por falta de recursos”.</a:t>
            </a:r>
            <a:endParaRPr lang="en-US" sz="1500" dirty="0"/>
          </a:p>
        </p:txBody>
      </p:sp>
      <p:sp>
        <p:nvSpPr>
          <p:cNvPr id="9" name="Text 7"/>
          <p:cNvSpPr txBox="1"/>
          <p:nvPr/>
        </p:nvSpPr>
        <p:spPr>
          <a:xfrm>
            <a:off x="365760" y="5303520"/>
            <a:ext cx="3840480" cy="1005840"/>
          </a:xfrm>
          <a:prstGeom prst="rect">
            <a:avLst/>
          </a:prstGeom>
          <a:noFill/>
          <a:ln/>
        </p:spPr>
        <p:txBody>
          <a:bodyPr wrap="square" lIns="0" tIns="0" rIns="0" bIns="0" rtlCol="0" anchor="ctr"/>
          <a:lstStyle/>
          <a:p>
            <a:pPr indent="0" marL="0">
              <a:buNone/>
            </a:pPr>
            <a:r>
              <a:rPr lang="en-US" sz="1500" b="1" dirty="0">
                <a:solidFill>
                  <a:srgbClr val="66FFFF"/>
                </a:solidFill>
                <a:latin typeface="Times New Roman" pitchFamily="34" charset="0"/>
                <a:ea typeface="Times New Roman" pitchFamily="34" charset="-122"/>
                <a:cs typeface="Times New Roman" pitchFamily="34" charset="-120"/>
              </a:rPr>
              <a:t>Hallazgo: </a:t>
            </a:r>
            <a:pPr indent="0" marL="0">
              <a:buNone/>
            </a:pPr>
            <a:r>
              <a:rPr lang="en-US" sz="1500" dirty="0">
                <a:solidFill>
                  <a:srgbClr val="FFFFFF"/>
                </a:solidFill>
                <a:latin typeface="Times New Roman" pitchFamily="34" charset="0"/>
                <a:ea typeface="Times New Roman" pitchFamily="34" charset="-122"/>
                <a:cs typeface="Times New Roman" pitchFamily="34" charset="-120"/>
              </a:rPr>
              <a:t>la radioterapia se validó por servir al proyecto nuclear, no por sus resultados.</a:t>
            </a:r>
            <a:endParaRPr lang="en-US" sz="1500" dirty="0"/>
          </a:p>
        </p:txBody>
      </p:sp>
      <p:sp>
        <p:nvSpPr>
          <p:cNvPr id="10" name="Shape 8"/>
          <p:cNvSpPr/>
          <p:nvPr/>
        </p:nvSpPr>
        <p:spPr>
          <a:xfrm flipH="1">
            <a:off x="6720840" y="1691640"/>
            <a:ext cx="0" cy="1554480"/>
          </a:xfrm>
          <a:prstGeom prst="line">
            <a:avLst/>
          </a:prstGeom>
          <a:noFill/>
          <a:ln w="25400">
            <a:solidFill>
              <a:srgbClr val="E0B000"/>
            </a:solidFill>
            <a:prstDash val="solid"/>
          </a:ln>
        </p:spPr>
      </p:sp>
      <p:sp>
        <p:nvSpPr>
          <p:cNvPr id="11" name="Shape 9"/>
          <p:cNvSpPr/>
          <p:nvPr/>
        </p:nvSpPr>
        <p:spPr>
          <a:xfrm flipH="1">
            <a:off x="5257800" y="3246120"/>
            <a:ext cx="1463040" cy="1234440"/>
          </a:xfrm>
          <a:prstGeom prst="line">
            <a:avLst/>
          </a:prstGeom>
          <a:noFill/>
          <a:ln w="25400">
            <a:solidFill>
              <a:srgbClr val="E0B000"/>
            </a:solidFill>
            <a:prstDash val="solid"/>
          </a:ln>
        </p:spPr>
      </p:sp>
      <p:sp>
        <p:nvSpPr>
          <p:cNvPr id="12" name="Shape 10"/>
          <p:cNvSpPr/>
          <p:nvPr/>
        </p:nvSpPr>
        <p:spPr>
          <a:xfrm>
            <a:off x="6720840" y="3246120"/>
            <a:ext cx="1463040" cy="1234440"/>
          </a:xfrm>
          <a:prstGeom prst="line">
            <a:avLst/>
          </a:prstGeom>
          <a:noFill/>
          <a:ln w="25400">
            <a:solidFill>
              <a:srgbClr val="E0B000"/>
            </a:solidFill>
            <a:prstDash val="solid"/>
          </a:ln>
        </p:spPr>
      </p:sp>
      <p:sp>
        <p:nvSpPr>
          <p:cNvPr id="13" name="Shape 11"/>
          <p:cNvSpPr/>
          <p:nvPr/>
        </p:nvSpPr>
        <p:spPr>
          <a:xfrm>
            <a:off x="6035040" y="2834640"/>
            <a:ext cx="1371600" cy="822960"/>
          </a:xfrm>
          <a:prstGeom prst="ellipse">
            <a:avLst/>
          </a:prstGeom>
          <a:solidFill>
            <a:srgbClr val="C00000"/>
          </a:solidFill>
          <a:ln w="25400">
            <a:solidFill>
              <a:srgbClr val="FFDD33"/>
            </a:solidFill>
            <a:prstDash val="solid"/>
          </a:ln>
        </p:spPr>
      </p:sp>
      <p:sp>
        <p:nvSpPr>
          <p:cNvPr id="14" name="Text 12"/>
          <p:cNvSpPr txBox="1"/>
          <p:nvPr/>
        </p:nvSpPr>
        <p:spPr>
          <a:xfrm>
            <a:off x="6035040" y="2834640"/>
            <a:ext cx="137160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RADIO</a:t>
            </a:r>
            <a:endParaRPr lang="en-US" sz="1800" dirty="0"/>
          </a:p>
        </p:txBody>
      </p:sp>
      <p:sp>
        <p:nvSpPr>
          <p:cNvPr id="15" name="Shape 13"/>
          <p:cNvSpPr/>
          <p:nvPr/>
        </p:nvSpPr>
        <p:spPr>
          <a:xfrm>
            <a:off x="5806440" y="1188720"/>
            <a:ext cx="1828800" cy="868680"/>
          </a:xfrm>
          <a:prstGeom prst="roundRect">
            <a:avLst>
              <a:gd name="adj" fmla="val 12632"/>
            </a:avLst>
          </a:prstGeom>
          <a:solidFill>
            <a:srgbClr val="0A1F7A"/>
          </a:solidFill>
          <a:ln w="19050">
            <a:solidFill>
              <a:srgbClr val="E0B000"/>
            </a:solidFill>
            <a:prstDash val="solid"/>
          </a:ln>
        </p:spPr>
      </p:sp>
      <p:sp>
        <p:nvSpPr>
          <p:cNvPr id="16" name="Text 14"/>
          <p:cNvSpPr txBox="1"/>
          <p:nvPr/>
        </p:nvSpPr>
        <p:spPr>
          <a:xfrm>
            <a:off x="5806440" y="1188720"/>
            <a:ext cx="1828800" cy="868680"/>
          </a:xfrm>
          <a:prstGeom prst="rect">
            <a:avLst/>
          </a:prstGeom>
          <a:noFill/>
          <a:ln/>
        </p:spPr>
        <p:txBody>
          <a:bodyPr wrap="square" lIns="25400" tIns="25400" rIns="25400" bIns="25400" rtlCol="0" anchor="ctr"/>
          <a:lstStyle/>
          <a:p>
            <a:pPr algn="ctr" indent="0" marL="0">
              <a:buNone/>
            </a:pPr>
            <a:r>
              <a:rPr lang="en-US" sz="1400" b="1" dirty="0">
                <a:solidFill>
                  <a:srgbClr val="FFDD33"/>
                </a:solidFill>
                <a:latin typeface="Times New Roman" pitchFamily="34" charset="0"/>
                <a:ea typeface="Times New Roman" pitchFamily="34" charset="-122"/>
                <a:cs typeface="Times New Roman" pitchFamily="34" charset="-120"/>
              </a:rPr>
              <a:t>Filantrocapitalismo
</a:t>
            </a:r>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familia Tata</a:t>
            </a:r>
            <a:endParaRPr lang="en-US" sz="1400" dirty="0"/>
          </a:p>
        </p:txBody>
      </p:sp>
      <p:sp>
        <p:nvSpPr>
          <p:cNvPr id="17" name="Shape 15"/>
          <p:cNvSpPr/>
          <p:nvPr/>
        </p:nvSpPr>
        <p:spPr>
          <a:xfrm>
            <a:off x="4434840" y="4069080"/>
            <a:ext cx="1828800" cy="868680"/>
          </a:xfrm>
          <a:prstGeom prst="roundRect">
            <a:avLst>
              <a:gd name="adj" fmla="val 12632"/>
            </a:avLst>
          </a:prstGeom>
          <a:solidFill>
            <a:srgbClr val="0A1F7A"/>
          </a:solidFill>
          <a:ln w="19050">
            <a:solidFill>
              <a:srgbClr val="E0B000"/>
            </a:solidFill>
            <a:prstDash val="solid"/>
          </a:ln>
        </p:spPr>
      </p:sp>
      <p:sp>
        <p:nvSpPr>
          <p:cNvPr id="18" name="Text 16"/>
          <p:cNvSpPr txBox="1"/>
          <p:nvPr/>
        </p:nvSpPr>
        <p:spPr>
          <a:xfrm>
            <a:off x="4434840" y="4069080"/>
            <a:ext cx="1828800" cy="868680"/>
          </a:xfrm>
          <a:prstGeom prst="rect">
            <a:avLst/>
          </a:prstGeom>
          <a:noFill/>
          <a:ln/>
        </p:spPr>
        <p:txBody>
          <a:bodyPr wrap="square" lIns="25400" tIns="25400" rIns="25400" bIns="25400" rtlCol="0" anchor="ctr"/>
          <a:lstStyle/>
          <a:p>
            <a:pPr algn="ctr" indent="0" marL="0">
              <a:buNone/>
            </a:pPr>
            <a:r>
              <a:rPr lang="en-US" sz="1400" b="1" dirty="0">
                <a:solidFill>
                  <a:srgbClr val="FFDD33"/>
                </a:solidFill>
                <a:latin typeface="Times New Roman" pitchFamily="34" charset="0"/>
                <a:ea typeface="Times New Roman" pitchFamily="34" charset="-122"/>
                <a:cs typeface="Times New Roman" pitchFamily="34" charset="-120"/>
              </a:rPr>
              <a:t>Nacionalismo científico
</a:t>
            </a:r>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Estado · Bhabha</a:t>
            </a:r>
            <a:endParaRPr lang="en-US" sz="1400" dirty="0"/>
          </a:p>
        </p:txBody>
      </p:sp>
      <p:sp>
        <p:nvSpPr>
          <p:cNvPr id="19" name="Shape 17"/>
          <p:cNvSpPr/>
          <p:nvPr/>
        </p:nvSpPr>
        <p:spPr>
          <a:xfrm>
            <a:off x="7223760" y="4069080"/>
            <a:ext cx="1691640" cy="868680"/>
          </a:xfrm>
          <a:prstGeom prst="roundRect">
            <a:avLst>
              <a:gd name="adj" fmla="val 12632"/>
            </a:avLst>
          </a:prstGeom>
          <a:solidFill>
            <a:srgbClr val="0A1F7A"/>
          </a:solidFill>
          <a:ln w="19050">
            <a:solidFill>
              <a:srgbClr val="E0B000"/>
            </a:solidFill>
            <a:prstDash val="solid"/>
          </a:ln>
        </p:spPr>
      </p:sp>
      <p:sp>
        <p:nvSpPr>
          <p:cNvPr id="20" name="Text 18"/>
          <p:cNvSpPr txBox="1"/>
          <p:nvPr/>
        </p:nvSpPr>
        <p:spPr>
          <a:xfrm>
            <a:off x="7223760" y="4069080"/>
            <a:ext cx="1691640" cy="868680"/>
          </a:xfrm>
          <a:prstGeom prst="rect">
            <a:avLst/>
          </a:prstGeom>
          <a:noFill/>
          <a:ln/>
        </p:spPr>
        <p:txBody>
          <a:bodyPr wrap="square" lIns="25400" tIns="25400" rIns="25400" bIns="25400" rtlCol="0" anchor="ctr"/>
          <a:lstStyle/>
          <a:p>
            <a:pPr algn="ctr" indent="0" marL="0">
              <a:buNone/>
            </a:pPr>
            <a:r>
              <a:rPr lang="en-US" sz="1400" b="1" dirty="0">
                <a:solidFill>
                  <a:srgbClr val="FFDD33"/>
                </a:solidFill>
                <a:latin typeface="Times New Roman" pitchFamily="34" charset="0"/>
                <a:ea typeface="Times New Roman" pitchFamily="34" charset="-122"/>
                <a:cs typeface="Times New Roman" pitchFamily="34" charset="-120"/>
              </a:rPr>
              <a:t>Medicina
</a:t>
            </a:r>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radioterapeutas</a:t>
            </a:r>
            <a:endParaRPr lang="en-US" sz="1400" dirty="0"/>
          </a:p>
        </p:txBody>
      </p:sp>
      <p:sp>
        <p:nvSpPr>
          <p:cNvPr id="21" name="Text 19"/>
          <p:cNvSpPr txBox="1"/>
          <p:nvPr/>
        </p:nvSpPr>
        <p:spPr>
          <a:xfrm>
            <a:off x="4572000" y="5577840"/>
            <a:ext cx="4206240" cy="365760"/>
          </a:xfrm>
          <a:prstGeom prst="rect">
            <a:avLst/>
          </a:prstGeom>
          <a:noFill/>
          <a:ln/>
        </p:spPr>
        <p:txBody>
          <a:bodyPr wrap="square" lIns="0" tIns="0" rIns="0" bIns="0" rtlCol="0" anchor="ctr"/>
          <a:lstStyle/>
          <a:p>
            <a:pPr algn="ctr" indent="0" marL="0">
              <a:buNone/>
            </a:pPr>
            <a:r>
              <a:rPr lang="en-US" sz="1300" i="1" dirty="0">
                <a:solidFill>
                  <a:srgbClr val="AAB8FF"/>
                </a:solidFill>
                <a:latin typeface="Times New Roman" pitchFamily="34" charset="0"/>
                <a:ea typeface="Times New Roman" pitchFamily="34" charset="-122"/>
                <a:cs typeface="Times New Roman" pitchFamily="34" charset="-120"/>
              </a:rPr>
              <a:t>pacientes</a:t>
            </a:r>
            <a:endParaRPr lang="en-US" sz="1300" dirty="0"/>
          </a:p>
        </p:txBody>
      </p:sp>
      <p:sp>
        <p:nvSpPr>
          <p:cNvPr id="22" name="Text 20"/>
          <p:cNvSpPr txBox="1"/>
          <p:nvPr/>
        </p:nvSpPr>
        <p:spPr>
          <a:xfrm>
            <a:off x="4572000" y="5870448"/>
            <a:ext cx="4206240" cy="274320"/>
          </a:xfrm>
          <a:prstGeom prst="rect">
            <a:avLst/>
          </a:prstGeom>
          <a:noFill/>
          <a:ln/>
        </p:spPr>
        <p:txBody>
          <a:bodyPr wrap="square" lIns="0" tIns="0" rIns="0" bIns="0" rtlCol="0" anchor="ctr"/>
          <a:lstStyle/>
          <a:p>
            <a:pPr algn="ctr" indent="0" marL="0">
              <a:buNone/>
            </a:pPr>
            <a:r>
              <a:rPr lang="en-US" sz="1000" i="1" dirty="0">
                <a:solidFill>
                  <a:srgbClr val="AAB8FF"/>
                </a:solidFill>
                <a:latin typeface="Times New Roman" pitchFamily="34" charset="0"/>
                <a:ea typeface="Times New Roman" pitchFamily="34" charset="-122"/>
                <a:cs typeface="Times New Roman" pitchFamily="34" charset="-120"/>
              </a:rPr>
              <a:t>(fuera del triángulo)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4 / 5</a:t>
            </a:r>
            <a:endParaRPr lang="en-US" sz="1100" dirty="0"/>
          </a:p>
        </p:txBody>
      </p:sp>
      <p:sp>
        <p:nvSpPr>
          <p:cNvPr id="4" name="Text 2"/>
          <p:cNvSpPr txBox="1"/>
          <p:nvPr/>
        </p:nvSpPr>
        <p:spPr>
          <a:xfrm>
            <a:off x="457200" y="228600"/>
            <a:ext cx="8229600" cy="68580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Conexión y fricción</a:t>
            </a:r>
            <a:endParaRPr lang="en-US" sz="3600" dirty="0"/>
          </a:p>
        </p:txBody>
      </p:sp>
      <p:sp>
        <p:nvSpPr>
          <p:cNvPr id="5" name="Text 3"/>
          <p:cNvSpPr txBox="1"/>
          <p:nvPr/>
        </p:nvSpPr>
        <p:spPr>
          <a:xfrm>
            <a:off x="4663440" y="1188720"/>
            <a:ext cx="4114800" cy="365760"/>
          </a:xfrm>
          <a:prstGeom prst="rect">
            <a:avLst/>
          </a:prstGeom>
          <a:noFill/>
          <a:ln/>
        </p:spPr>
        <p:txBody>
          <a:bodyPr wrap="square" lIns="0" tIns="0" rIns="0" bIns="0" rtlCol="0" anchor="ctr"/>
          <a:lstStyle/>
          <a:p>
            <a:pPr indent="0" marL="0">
              <a:buNone/>
            </a:pPr>
            <a:r>
              <a:rPr lang="en-US" sz="1800" b="1" dirty="0">
                <a:solidFill>
                  <a:srgbClr val="FFFFFF"/>
                </a:solidFill>
                <a:latin typeface="Times New Roman" pitchFamily="34" charset="0"/>
                <a:ea typeface="Times New Roman" pitchFamily="34" charset="-122"/>
                <a:cs typeface="Times New Roman" pitchFamily="34" charset="-120"/>
              </a:rPr>
              <a:t>Bombay 1963</a:t>
            </a:r>
            <a:endParaRPr lang="en-US" sz="1800" dirty="0"/>
          </a:p>
        </p:txBody>
      </p:sp>
      <p:pic>
        <p:nvPicPr>
          <p:cNvPr id="90" name="Foto BARC" descr="Nehru con V. K. Iya en Trombay (hoy BARC), División de Isótopos"/>
          <p:cNvPicPr>
            <a:picLocks noChangeAspect="1"/>
          </p:cNvPicPr>
          <p:nvPr/>
        </p:nvPicPr>
        <p:blipFill>
          <a:blip r:embed="rId90"/>
          <a:stretch>
            <a:fillRect/>
          </a:stretch>
        </p:blipFill>
        <p:spPr>
          <a:xfrm>
            <a:off x="365760" y="1005840"/>
            <a:ext cx="4114800" cy="233172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sp>
        <p:nvSpPr>
          <p:cNvPr id="8" name="Text 6"/>
          <p:cNvSpPr txBox="1"/>
          <p:nvPr/>
        </p:nvSpPr>
        <p:spPr>
          <a:xfrm>
            <a:off x="4663440" y="1645920"/>
            <a:ext cx="4114800" cy="91440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2400" b="1" dirty="0">
                <a:solidFill>
                  <a:srgbClr val="66FFFF"/>
                </a:solidFill>
                <a:latin typeface="Times New Roman" pitchFamily="34" charset="0"/>
                <a:ea typeface="Times New Roman" pitchFamily="34" charset="-122"/>
                <a:cs typeface="Times New Roman" pitchFamily="34" charset="-120"/>
              </a:rPr>
              <a:t>Estado </a:t>
            </a:r>
            <a:pPr indent="0" marL="0">
              <a:buNone/>
            </a:pPr>
            <a:r>
              <a:rPr lang="en-US" sz="2400" dirty="0">
                <a:solidFill>
                  <a:srgbClr val="FFDD33"/>
                </a:solidFill>
                <a:latin typeface="Times New Roman" pitchFamily="34" charset="0"/>
                <a:ea typeface="Times New Roman" pitchFamily="34" charset="-122"/>
                <a:cs typeface="Times New Roman" pitchFamily="34" charset="-120"/>
              </a:rPr>
              <a:t>→ </a:t>
            </a:r>
            <a:pPr indent="0" marL="0">
              <a:buNone/>
            </a:pPr>
            <a:r>
              <a:rPr lang="en-US" sz="2400" b="1" dirty="0">
                <a:solidFill>
                  <a:srgbClr val="66FFFF"/>
                </a:solidFill>
                <a:latin typeface="Times New Roman" pitchFamily="34" charset="0"/>
                <a:ea typeface="Times New Roman" pitchFamily="34" charset="-122"/>
                <a:cs typeface="Times New Roman" pitchFamily="34" charset="-120"/>
              </a:rPr>
              <a:t>isótopos </a:t>
            </a:r>
            <a:pPr indent="0" marL="0">
              <a:buNone/>
            </a:pPr>
            <a:r>
              <a:rPr lang="en-US" sz="2400" dirty="0">
                <a:solidFill>
                  <a:srgbClr val="FFDD33"/>
                </a:solidFill>
                <a:latin typeface="Times New Roman" pitchFamily="34" charset="0"/>
                <a:ea typeface="Times New Roman" pitchFamily="34" charset="-122"/>
                <a:cs typeface="Times New Roman" pitchFamily="34" charset="-120"/>
              </a:rPr>
              <a:t>→ </a:t>
            </a:r>
            <a:pPr indent="0" marL="0">
              <a:buNone/>
            </a:pPr>
            <a:r>
              <a:rPr lang="en-US" sz="2400" b="1" dirty="0">
                <a:solidFill>
                  <a:srgbClr val="66FFFF"/>
                </a:solidFill>
                <a:latin typeface="Times New Roman" pitchFamily="34" charset="0"/>
                <a:ea typeface="Times New Roman" pitchFamily="34" charset="-122"/>
                <a:cs typeface="Times New Roman" pitchFamily="34" charset="-120"/>
              </a:rPr>
              <a:t>hospital</a:t>
            </a:r>
            <a:endParaRPr lang="en-US" sz="2400" dirty="0"/>
          </a:p>
        </p:txBody>
      </p:sp>
      <p:sp>
        <p:nvSpPr>
          <p:cNvPr id="9" name="Text 7"/>
          <p:cNvSpPr txBox="1"/>
          <p:nvPr/>
        </p:nvSpPr>
        <p:spPr>
          <a:xfrm>
            <a:off x="4663440" y="2651760"/>
            <a:ext cx="4114800" cy="640080"/>
          </a:xfrm>
          <a:prstGeom prst="rect">
            <a:avLst/>
          </a:prstGeom>
          <a:noFill/>
          <a:ln/>
        </p:spPr>
        <p:txBody>
          <a:bodyPr wrap="square" lIns="0" tIns="0" rIns="0" bIns="0" rtlCol="0" anchor="ctr"/>
          <a:lstStyle/>
          <a:p>
            <a:pPr indent="0" marL="0">
              <a:buNone/>
            </a:pPr>
            <a:r>
              <a:rPr lang="en-US" sz="1500" i="1" dirty="0">
                <a:solidFill>
                  <a:srgbClr val="FFFFFF"/>
                </a:solidFill>
                <a:latin typeface="Times New Roman" pitchFamily="34" charset="0"/>
                <a:ea typeface="Times New Roman" pitchFamily="34" charset="-122"/>
                <a:cs typeface="Times New Roman" pitchFamily="34" charset="-120"/>
              </a:rPr>
              <a:t>Smith mira desde el archivo y las élites.</a:t>
            </a:r>
            <a:endParaRPr lang="en-US" sz="1500" dirty="0"/>
          </a:p>
        </p:txBody>
      </p:sp>
      <p:sp>
        <p:nvSpPr>
          <p:cNvPr id="10" name="Text 8"/>
          <p:cNvSpPr txBox="1"/>
          <p:nvPr/>
        </p:nvSpPr>
        <p:spPr>
          <a:xfrm>
            <a:off x="6309360" y="3474720"/>
            <a:ext cx="2468880" cy="365760"/>
          </a:xfrm>
          <a:prstGeom prst="rect">
            <a:avLst/>
          </a:prstGeom>
          <a:noFill/>
          <a:ln/>
        </p:spPr>
        <p:txBody>
          <a:bodyPr wrap="square" lIns="0" tIns="0" rIns="0" bIns="0" rtlCol="0" anchor="ctr"/>
          <a:lstStyle/>
          <a:p>
            <a:pPr indent="0" marL="0">
              <a:buNone/>
            </a:pPr>
            <a:r>
              <a:rPr lang="en-US" sz="1800" b="1" dirty="0">
                <a:solidFill>
                  <a:srgbClr val="FFFFFF"/>
                </a:solidFill>
                <a:latin typeface="Times New Roman" pitchFamily="34" charset="0"/>
                <a:ea typeface="Times New Roman" pitchFamily="34" charset="-122"/>
                <a:cs typeface="Times New Roman" pitchFamily="34" charset="-120"/>
              </a:rPr>
              <a:t>Chile 2026</a:t>
            </a:r>
            <a:endParaRPr lang="en-US" sz="1800" dirty="0"/>
          </a:p>
        </p:txBody>
      </p:sp>
      <p:pic>
        <p:nvPicPr>
          <p:cNvPr id="91" name="Foto CEN La Reina" descr="Centro de Estudios Nucleares La Reina (CCHEN), sede del RECH-1"/>
          <p:cNvPicPr>
            <a:picLocks noChangeAspect="1"/>
          </p:cNvPicPr>
          <p:nvPr/>
        </p:nvPicPr>
        <p:blipFill>
          <a:blip r:embed="rId91"/>
          <a:stretch>
            <a:fillRect/>
          </a:stretch>
        </p:blipFill>
        <p:spPr>
          <a:xfrm>
            <a:off x="365760" y="3474720"/>
            <a:ext cx="2834640" cy="196596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pic>
        <p:nvPicPr>
          <p:cNvPr id="13" name="Image 0" descr="/home/claude/img/cchen.jpg">    </p:cNvPr>
          <p:cNvPicPr>
            <a:picLocks noChangeAspect="1"/>
          </p:cNvPicPr>
          <p:nvPr/>
        </p:nvPicPr>
        <p:blipFill>
          <a:blip r:embed="rId2"/>
          <a:stretch>
            <a:fillRect/>
          </a:stretch>
        </p:blipFill>
        <p:spPr>
          <a:xfrm>
            <a:off x="3337560" y="3474720"/>
            <a:ext cx="2834640" cy="1965960"/>
          </a:xfrm>
          <a:prstGeom prst="rect">
            <a:avLst/>
          </a:prstGeom>
          <a:effectLst>
            <a:outerShdw sx="100000" sy="100000" kx="0" ky="0" algn="bl" rotWithShape="0" blurRad="25400" dist="25400" dir="2700000">
              <a:srgbClr val="000000">
                <a:alpha val="90000"/>
              </a:srgbClr>
            </a:outerShdw>
          </a:effectLst>
        </p:spPr>
      </p:pic>
      <p:sp>
        <p:nvSpPr>
          <p:cNvPr id="14" name="Text 11"/>
          <p:cNvSpPr txBox="1"/>
          <p:nvPr/>
        </p:nvSpPr>
        <p:spPr>
          <a:xfrm>
            <a:off x="6309360" y="3931920"/>
            <a:ext cx="2468880" cy="731520"/>
          </a:xfrm>
          <a:prstGeom prst="rect">
            <a:avLst/>
          </a:prstGeom>
          <a:noFill/>
          <a:ln/>
        </p:spPr>
        <p:txBody>
          <a:bodyPr wrap="square" lIns="0" tIns="0" rIns="0" bIns="0" rtlCol="0" anchor="ctr"/>
          <a:lstStyle/>
          <a:p>
            <a:pPr algn="ctr" indent="0" marL="0">
              <a:buNone/>
            </a:pPr>
            <a:r>
              <a:rPr lang="en-US" sz="1500" b="1" dirty="0">
                <a:solidFill>
                  <a:srgbClr val="FFDD33"/>
                </a:solidFill>
                <a:latin typeface="Times New Roman" pitchFamily="34" charset="0"/>
                <a:ea typeface="Times New Roman" pitchFamily="34" charset="-122"/>
                <a:cs typeface="Times New Roman" pitchFamily="34" charset="-120"/>
              </a:rPr>
              <a:t>isótopos
</a:t>
            </a:r>
            <a:pPr algn="ctr" indent="0" marL="0">
              <a:buNone/>
            </a:pPr>
            <a:r>
              <a:rPr lang="en-US" sz="1800" dirty="0">
                <a:solidFill>
                  <a:srgbClr val="FFDD33"/>
                </a:solidFill>
                <a:latin typeface="Times New Roman" pitchFamily="34" charset="0"/>
                <a:ea typeface="Times New Roman" pitchFamily="34" charset="-122"/>
                <a:cs typeface="Times New Roman" pitchFamily="34" charset="-120"/>
              </a:rPr>
              <a:t>→</a:t>
            </a:r>
            <a:endParaRPr lang="en-US" sz="1500" dirty="0"/>
          </a:p>
        </p:txBody>
      </p:sp>
      <p:pic>
        <p:nvPicPr>
          <p:cNvPr id="15" name="Image 1" descr="/home/claude/img/falp.png">    </p:cNvPr>
          <p:cNvPicPr>
            <a:picLocks noChangeAspect="1"/>
          </p:cNvPicPr>
          <p:nvPr/>
        </p:nvPicPr>
        <p:blipFill>
          <a:blip r:embed="rId3"/>
          <a:stretch>
            <a:fillRect/>
          </a:stretch>
        </p:blipFill>
        <p:spPr>
          <a:xfrm>
            <a:off x="6309360" y="4754880"/>
            <a:ext cx="2468880" cy="566928"/>
          </a:xfrm>
          <a:prstGeom prst="rect">
            <a:avLst/>
          </a:prstGeom>
          <a:effectLst>
            <a:outerShdw sx="100000" sy="100000" kx="0" ky="0" algn="bl" rotWithShape="0" blurRad="25400" dist="25400" dir="2700000">
              <a:srgbClr val="000000">
                <a:alpha val="90000"/>
              </a:srgbClr>
            </a:outerShdw>
          </a:effectLst>
        </p:spPr>
      </p:pic>
      <p:sp>
        <p:nvSpPr>
          <p:cNvPr id="16" name="Text 12"/>
          <p:cNvSpPr txBox="1"/>
          <p:nvPr/>
        </p:nvSpPr>
        <p:spPr>
          <a:xfrm>
            <a:off x="365760" y="5486400"/>
            <a:ext cx="283464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Sede del RECH-1 (1974)</a:t>
            </a:r>
            <a:endParaRPr lang="en-US" sz="1400" dirty="0"/>
          </a:p>
        </p:txBody>
      </p:sp>
      <p:sp>
        <p:nvSpPr>
          <p:cNvPr id="17" name="Text 13"/>
          <p:cNvSpPr txBox="1"/>
          <p:nvPr/>
        </p:nvSpPr>
        <p:spPr>
          <a:xfrm>
            <a:off x="3337560" y="5486400"/>
            <a:ext cx="283464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CCHEN · La Reina</a:t>
            </a:r>
            <a:endParaRPr lang="en-US" sz="1400" dirty="0"/>
          </a:p>
        </p:txBody>
      </p:sp>
      <p:sp>
        <p:nvSpPr>
          <p:cNvPr id="18" name="Text 14"/>
          <p:cNvSpPr txBox="1"/>
          <p:nvPr/>
        </p:nvSpPr>
        <p:spPr>
          <a:xfrm>
            <a:off x="6309360" y="5486400"/>
            <a:ext cx="246888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FALP · sept. 2026</a:t>
            </a:r>
            <a:endParaRPr lang="en-US" sz="1400" dirty="0"/>
          </a:p>
        </p:txBody>
      </p:sp>
      <p:sp>
        <p:nvSpPr>
          <p:cNvPr id="19" name="Text 15"/>
          <p:cNvSpPr txBox="1"/>
          <p:nvPr/>
        </p:nvSpPr>
        <p:spPr>
          <a:xfrm>
            <a:off x="365760" y="5824728"/>
            <a:ext cx="8412480" cy="54864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2200" b="1" dirty="0">
                <a:solidFill>
                  <a:srgbClr val="FFDD33"/>
                </a:solidFill>
                <a:latin typeface="Times New Roman" pitchFamily="34" charset="0"/>
                <a:ea typeface="Times New Roman" pitchFamily="34" charset="-122"/>
                <a:cs typeface="Times New Roman" pitchFamily="34" charset="-120"/>
              </a:rPr>
              <a:t>alerta oncológica </a:t>
            </a:r>
            <a:pPr indent="0" marL="0">
              <a:buNone/>
            </a:pPr>
            <a:r>
              <a:rPr lang="en-US" sz="2200" dirty="0">
                <a:solidFill>
                  <a:srgbClr val="FFFFFF"/>
                </a:solidFill>
                <a:latin typeface="Times New Roman" pitchFamily="34" charset="0"/>
                <a:ea typeface="Times New Roman" pitchFamily="34" charset="-122"/>
                <a:cs typeface="Times New Roman" pitchFamily="34" charset="-120"/>
              </a:rPr>
              <a:t>vs </a:t>
            </a:r>
            <a:pPr indent="0" marL="0">
              <a:buNone/>
            </a:pPr>
            <a:r>
              <a:rPr lang="en-US" sz="2200" b="1" dirty="0">
                <a:solidFill>
                  <a:srgbClr val="FFDD33"/>
                </a:solidFill>
                <a:latin typeface="Times New Roman" pitchFamily="34" charset="0"/>
                <a:ea typeface="Times New Roman" pitchFamily="34" charset="-122"/>
                <a:cs typeface="Times New Roman" pitchFamily="34" charset="-120"/>
              </a:rPr>
              <a:t>desfinanciamiento</a:t>
            </a:r>
            <a:pPr indent="0" marL="0">
              <a:buNone/>
            </a:pPr>
            <a:r>
              <a:rPr lang="en-US" sz="1500" i="1" dirty="0">
                <a:solidFill>
                  <a:srgbClr val="FFFFFF"/>
                </a:solidFill>
                <a:latin typeface="Times New Roman" pitchFamily="34" charset="0"/>
                <a:ea typeface="Times New Roman" pitchFamily="34" charset="-122"/>
                <a:cs typeface="Times New Roman" pitchFamily="34" charset="-120"/>
              </a:rPr>
              <a:t>   ·   yo miro desde la entrega diaria.</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5 / 5</a:t>
            </a:r>
            <a:endParaRPr lang="en-US" sz="1100" dirty="0"/>
          </a:p>
        </p:txBody>
      </p:sp>
      <p:sp>
        <p:nvSpPr>
          <p:cNvPr id="4" name="Text 2"/>
          <p:cNvSpPr txBox="1"/>
          <p:nvPr/>
        </p:nvSpPr>
        <p:spPr>
          <a:xfrm>
            <a:off x="457200" y="228600"/>
            <a:ext cx="8229600" cy="68580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Validez = logro sociotécnico</a:t>
            </a:r>
            <a:endParaRPr lang="en-US" sz="3600" dirty="0"/>
          </a:p>
        </p:txBody>
      </p:sp>
      <p:pic>
        <p:nvPicPr>
          <p:cNvPr id="5" name="Image 0" descr="Nota de falp.org: FALP y CCHEN exploran nuevas oportunidades de colaboración para la investigación en cáncer (7 sept. 2026)">    </p:cNvPr>
          <p:cNvPicPr>
            <a:picLocks noChangeAspect="1"/>
          </p:cNvPicPr>
          <p:nvPr/>
        </p:nvPicPr>
        <p:blipFill>
          <a:blip r:embed="rId2"/>
          <a:stretch>
            <a:fillRect/>
          </a:stretch>
        </p:blipFill>
        <p:spPr>
          <a:xfrm>
            <a:off x="365760" y="1005840"/>
            <a:ext cx="5123200" cy="5303520"/>
          </a:xfrm>
          <a:prstGeom prst="rect">
            <a:avLst/>
          </a:prstGeom>
          <a:effectLst>
            <a:outerShdw sx="100000" sy="100000" kx="0" ky="0" algn="bl" rotWithShape="0" blurRad="25400" dist="25400" dir="2700000">
              <a:srgbClr val="000000">
                <a:alpha val="90000"/>
              </a:srgbClr>
            </a:outerShdw>
          </a:effectLst>
        </p:spPr>
      </p:pic>
      <p:sp>
        <p:nvSpPr>
          <p:cNvPr id="6" name="Text 3"/>
          <p:cNvSpPr txBox="1"/>
          <p:nvPr/>
        </p:nvSpPr>
        <p:spPr>
          <a:xfrm>
            <a:off x="5669280" y="4754880"/>
            <a:ext cx="3108960" cy="1188720"/>
          </a:xfrm>
          <a:prstGeom prst="rect">
            <a:avLst/>
          </a:prstGeom>
          <a:noFill/>
          <a:ln/>
        </p:spPr>
        <p:txBody>
          <a:bodyPr wrap="square" lIns="0" tIns="0" rIns="0" bIns="0" rtlCol="0" anchor="ctr"/>
          <a:lstStyle/>
          <a:p>
            <a:pPr algn="ctr" indent="0" marL="0">
              <a:buNone/>
            </a:pPr>
            <a:r>
              <a:rPr lang="en-US" sz="1400" i="1" dirty="0">
                <a:solidFill>
                  <a:srgbClr val="FFDD33"/>
                </a:solidFill>
                <a:latin typeface="Times New Roman" pitchFamily="34" charset="0"/>
                <a:ea typeface="Times New Roman" pitchFamily="34" charset="-122"/>
                <a:cs typeface="Times New Roman" pitchFamily="34" charset="-120"/>
              </a:rPr>
              <a:t>falp.org, 7 sept. 2026: la delegación en la CCHEN — una alianza en formación</a:t>
            </a:r>
            <a:endParaRPr lang="en-US" sz="1400" dirty="0"/>
          </a:p>
        </p:txBody>
      </p:sp>
      <p:sp>
        <p:nvSpPr>
          <p:cNvPr id="7" name="Text 4"/>
          <p:cNvSpPr txBox="1"/>
          <p:nvPr/>
        </p:nvSpPr>
        <p:spPr>
          <a:xfrm>
            <a:off x="5669280" y="1280160"/>
            <a:ext cx="3108960" cy="329184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algn="ctr" indent="0" marL="0">
              <a:buNone/>
            </a:pPr>
            <a:r>
              <a:rPr lang="en-US" sz="2400" b="1" dirty="0">
                <a:solidFill>
                  <a:srgbClr val="66FFFF"/>
                </a:solidFill>
                <a:latin typeface="Times New Roman" pitchFamily="34" charset="0"/>
                <a:ea typeface="Times New Roman" pitchFamily="34" charset="-122"/>
                <a:cs typeface="Times New Roman" pitchFamily="34" charset="-120"/>
              </a:rPr>
              <a:t>¿Qué alianzas rearman hoy nuestra infraestructura,</a:t>
            </a:r>
            <a:endParaRPr lang="en-US" sz="2400" dirty="0"/>
          </a:p>
          <a:p>
            <a:pPr algn="ctr" indent="0" marL="0">
              <a:buNone/>
            </a:pPr>
            <a:r>
              <a:rPr lang="en-US" sz="2400" b="1" dirty="0">
                <a:solidFill>
                  <a:srgbClr val="66FFFF"/>
                </a:solidFill>
                <a:latin typeface="Times New Roman" pitchFamily="34" charset="0"/>
                <a:ea typeface="Times New Roman" pitchFamily="34" charset="-122"/>
                <a:cs typeface="Times New Roman" pitchFamily="34" charset="-120"/>
              </a:rPr>
              <a:t>y quién queda fuera de la conversación?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infrastructures — Smith 2022</dc:title>
  <dc:subject>PptxGenJS Presentation</dc:subject>
  <dc:creator>PptxGenJS</dc:creator>
  <cp:lastModifiedBy>PptxGenJS</cp:lastModifiedBy>
  <cp:revision>1</cp:revision>
  <dcterms:created xsi:type="dcterms:W3CDTF">2026-09-25T17:12:00Z</dcterms:created>
  <dcterms:modified xsi:type="dcterms:W3CDTF">2026-09-25T17:12:00Z</dcterms:modified>
</cp:coreProperties>
</file>